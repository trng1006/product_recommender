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ustom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0" y="164592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PHẦN 1: ĐẶT VẤN ĐỀ (1 - 2 PHÚT)  |  Slide 1/16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11064240" cy="2011680"/>
          </a:xfrm>
          <a:prstGeom prst="round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300" b="1">
                <a:solidFill>
                  <a:srgbClr val="90CAF9"/>
                </a:solidFill>
              </a:defRPr>
            </a:pPr>
            <a:r>
              <a:t>BÁO CÁO ĐỒ ÁN HỌC PHẦN: NHẬP MÔN BIG DATA (MÃ HP: 01200057)</a:t>
            </a:r>
          </a:p>
          <a:p>
            <a:pPr>
              <a:spcAft>
                <a:spcPts val="600"/>
              </a:spcAft>
              <a:defRPr sz="2000" b="1">
                <a:solidFill>
                  <a:srgbClr val="FFFFFF"/>
                </a:solidFill>
              </a:defRPr>
            </a:pPr>
            <a:r>
              <a:t>XÂY DỰNG HỆ THỐNG BIG DATA PHÂN TÁN CHO BÀI TOÁN KHUYẾN NGHỊ SẢN PHẨM</a:t>
            </a:r>
            <a:br/>
            <a:r>
              <a:t>DỰA TRÊN HADOOP HDFS, APACHE SPARK, AIRFLOW VÀ ALS MLLIB</a:t>
            </a:r>
          </a:p>
          <a:p>
            <a:pPr>
              <a:defRPr sz="1200">
                <a:solidFill>
                  <a:srgbClr val="E3F2FD"/>
                </a:solidFill>
              </a:defRPr>
            </a:pPr>
            <a:r>
              <a:t>Bộ dữ liệu: RetailRocket E-Commerce (1.4 GB | 2,756,101 dòng tương tác | 1 NameNode + 2 DataNodes | 1 Master + 2 Spark Workers)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566160"/>
            <a:ext cx="2651760" cy="28346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3566160"/>
            <a:ext cx="2651760" cy="640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675887"/>
            <a:ext cx="2377440" cy="2670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565C0"/>
                </a:solidFill>
              </a:defRPr>
            </a:pPr>
            <a:r>
              <a:t>TĂNG GIA HUY</a:t>
            </a:r>
            <a:br/>
            <a:r>
              <a:t>(2001210001)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Hạ tầng HDFS &amp; Ingestion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1 NameNode + 2 DataNodes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12 Blocks (128MB), Rep=2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Kafka Streaming Ingestion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64992" y="3566160"/>
            <a:ext cx="2651760" cy="28346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64992" y="3566160"/>
            <a:ext cx="2651760" cy="640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02152" y="3675887"/>
            <a:ext cx="2377440" cy="2670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565C0"/>
                </a:solidFill>
              </a:defRPr>
            </a:pPr>
            <a:r>
              <a:t>TRẦN PHƯƠNG</a:t>
            </a:r>
            <a:br/>
            <a:r>
              <a:t>(2001210002)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Xử lý Phân tán &amp; Spark ETL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Làm sạch 2.75M dòng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Implicit Scoring (1/2/3)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Nén Parquet Snappy (01_etl.py)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3566160"/>
            <a:ext cx="2651760" cy="28346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1344" y="3566160"/>
            <a:ext cx="2651760" cy="640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18504" y="3675887"/>
            <a:ext cx="2377440" cy="2670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565C0"/>
                </a:solidFill>
              </a:defRPr>
            </a:pPr>
            <a:r>
              <a:t>TRẦN BẢO NGUYÊN</a:t>
            </a:r>
            <a:br/>
            <a:r>
              <a:t>(2001210003)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Spark MLlib ALS &amp; Benchmark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Matrix Factorization k=10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Hội tụ RMSE ~ 0.02108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Đo kiểm CSV vs Parquet (13.2x)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97696" y="3566160"/>
            <a:ext cx="2651760" cy="28346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997696" y="3566160"/>
            <a:ext cx="2651760" cy="640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4856" y="3675887"/>
            <a:ext cx="2377440" cy="2670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565C0"/>
                </a:solidFill>
              </a:defRPr>
            </a:pPr>
            <a:r>
              <a:t>LÊ NGỌC ANH</a:t>
            </a:r>
            <a:br/>
            <a:r>
              <a:t>(2001210004)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Airflow DAG &amp; Serving UI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Spark SQL Top 10 Cold-Start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Airflow DAG (5 tasks liên hoàn)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Serving Web Streamlit (app.py)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ustom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0" y="164592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PHẦN 1: ĐẶT VẤN ĐỀ (1 - 2 PHÚT)  |  Slide 2/16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3B66"/>
                </a:solidFill>
              </a:defRPr>
            </a:pPr>
            <a:r>
              <a:t>1. BÀI TOÁN THỰC TẾ &amp; TẠI SAO PHẢI DÙNG BIG DATA?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394960" cy="49377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394960" cy="6400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72768"/>
            <a:ext cx="512064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D3B66"/>
                </a:solidFill>
              </a:defRPr>
            </a:pPr>
            <a:r>
              <a:t>BÀI TOÁN CÁ NHÂN HÓA TRÊN SÀN TMĐT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Khách hàng đối mặt với 235,061 sản phẩm -&gt; Quá tải thông tin.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Hệ thống ghi nhận 2,756,101 dòng log từ 1,407,580 người dùng.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Ma trận tương tác R (Users x Items) có hơn 330 tỷ phần tử tiềm năng.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Độ thưa cực lớn (Sparsity &gt; 99.9%): Mỗi khách chỉ tương tác vài món.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Mục tiêu: Dự đoán chính xác Top-K sản phẩm khách thích từ hành vi ẩn.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394960" cy="23774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463040"/>
            <a:ext cx="5394960" cy="64008"/>
          </a:xfrm>
          <a:prstGeom prst="rect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572768"/>
            <a:ext cx="5120640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D32F2F"/>
                </a:solidFill>
              </a:defRPr>
            </a:pPr>
            <a:r>
              <a:t>HỆ THỐNG THÔNG THƯỜNG (PANDAS / SINGLE NODE)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Đọc file 1.4 GB &amp; nhân ma trận trên 1 máy đơn lẻ gây tràn bộ nhớ (OOM).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Không có cơ chế chịu lỗi (Fault Tolerance) khi hỏng ổ cứng.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Tốc độ quét file CSV tuần tự quá chậm khi dữ liệu lớn.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023360"/>
            <a:ext cx="5394960" cy="23774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4023360"/>
            <a:ext cx="5394960" cy="640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4133088"/>
            <a:ext cx="5120640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2E7D32"/>
                </a:solidFill>
              </a:defRPr>
            </a:pPr>
            <a:r>
              <a:t>GIẢI PHÁP BIG DATA CỦA NHÓM (HDFS + SPARK)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Lưu trữ phân tán Hadoop HDFS: Chia blocks 128MB, nhân bản an toàn.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Tính toán phân tán In-Memory với Spark Distributed DataFrame xử lý song song.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ustom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0" y="164592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PHẦN 2: GIỚI THIỆU DATASET (2 - 3 PHÚT)  |  Slide 3/16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3B66"/>
                </a:solidFill>
              </a:defRPr>
            </a:pPr>
            <a:r>
              <a:t>2.1. NGUỒN DỮ LIỆU KAGGLE RETAILROCKET &amp; ĐẶC TRƯNG 3V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566160" cy="3291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66160" cy="640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72768"/>
            <a:ext cx="3291840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565C0"/>
                </a:solidFill>
              </a:defRPr>
            </a:pPr>
            <a:r>
              <a:t>VOLUME (QUY MÔ LỚN)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Nguồn: Kaggle RetailRocket Dataset.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File events.csv nặng ~1.4 GB (2,756,101 dòng hành vi).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Đi kèm item_properties (~935 MB) và category_tree.csv (1.3 MB).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Tổng quy mô: 1.4M users &amp; 235K items.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463040"/>
            <a:ext cx="3566160" cy="3291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66160" cy="640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572768"/>
            <a:ext cx="3291840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E65100"/>
                </a:solidFill>
              </a:defRPr>
            </a:pPr>
            <a:r>
              <a:t>VELOCITY (TỐC ĐỘ &amp; XỬ LÝ)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Log sự kiện phát sinh liên tục theo dấu thời gian (timestamp Unix).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Phản ánh luồng clickstream thực tế trên sàn TMĐT.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Kiến trúc áp dụng: Batch Processing kết hợp Online Serving phản hồi mili-giây.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566160" cy="3291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66160" cy="640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1572768"/>
            <a:ext cx="3291840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2E7D32"/>
                </a:solidFill>
              </a:defRPr>
            </a:pPr>
            <a:r>
              <a:t>VARIETY (ĐA DẠNG &amp; HÀNH VI ẨN)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Cấu trúc bảng CSV gồm số nguyên, chuỗi và timestamp.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Không có điểm đánh giá sao (Explicit Rating).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Chỉ có Hành vi ẩn (Implicit Feedback): View, Addtocart, Transaction.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937760"/>
            <a:ext cx="11064240" cy="14630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937760"/>
            <a:ext cx="11064240" cy="6400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047488"/>
            <a:ext cx="10789919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D3B66"/>
                </a:solidFill>
              </a:defRPr>
            </a:pPr>
            <a:r>
              <a:t>ĐIỂM NHẤN KỸ THUẬT: TẠI SAO KHÔNG DÙNG PANDAS THÔNG THƯỜNG?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Khi nạp 2.75 triệu dòng kèm groupBy/Join trên Pandas, RAM cục bộ bị chiếm dụng gấp 3-5 lần dẫn đến Crash Out-Of-Memory. Nhóm bắt buộc sử dụng Distributed DataFrame của Apache Spark để chia dữ liệu thành các Partitions xử lý song song.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ustom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0" y="164592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PHẦN 2: GIỚI THIỆU DATASET (2 - 3 PHÚT)  |  Slide 4/16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3B66"/>
                </a:solidFill>
              </a:defRPr>
            </a:pPr>
            <a:r>
              <a:t>2.2. PHÂN BỔ HÀNH VI KHÁCH HÀNG &amp; SCHEMA CỐT LÕI</a:t>
            </a:r>
          </a:p>
        </p:txBody>
      </p:sp>
      <p:pic>
        <p:nvPicPr>
          <p:cNvPr id="5" name="Picture 4" descr="4_EDA_Interac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5669280" cy="438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5669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>
                <a:solidFill>
                  <a:srgbClr val="6C757D"/>
                </a:solidFill>
              </a:defRPr>
            </a:pPr>
            <a:r>
              <a:t>Hình 1: Phân bổ 3 loại tương tác khách hàng trên thang đo Log scale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63040"/>
            <a:ext cx="5212080" cy="22860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1463040"/>
            <a:ext cx="5212080" cy="640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572768"/>
            <a:ext cx="4937760" cy="2121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565C0"/>
                </a:solidFill>
              </a:defRPr>
            </a:pPr>
            <a:r>
              <a:t>THỐNG KÊ TỶ LỆ CHUYỂN ĐỔI (2,756,101 LƯỢT)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Xem sản phẩm (view): 2,664,312 lượt (Chiếm 96.67%).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Thêm giỏ (addtocart): 69,332 lượt (Chiếm 2.52%).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Mua hàng (transaction): 22,457 lượt (Chỉ chiếm 0.81%).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-&gt; Dữ liệu mất cân bằng cực mạnh, đòi hỏi gán trọng số điểm phù hợp.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3931920"/>
            <a:ext cx="5212080" cy="24688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3931920"/>
            <a:ext cx="5212080" cy="6400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4041648"/>
            <a:ext cx="4937760" cy="2304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D3B66"/>
                </a:solidFill>
              </a:defRPr>
            </a:pPr>
            <a:r>
              <a:t>SCHEMA 5 TRƯỜNG DỮ LIỆU TRONG EVENTS.CSV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timestamp (Long): Thời điểm phát sinh sự kiện (mili-giây).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visitorid (Integer): Định danh khách hàng.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event (String): Loại hành vi ('view', 'addtocart', 'transaction').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itemid (Integer): Định danh sản phẩm.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transactionid (Integer/Null): Mã đơn hàng (Có khi mua).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ustom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0" y="164592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PHẦN 2: GIỚI THIỆU DATASET (2 - 3 PHÚT)  |  Slide 5/16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3B66"/>
                </a:solidFill>
              </a:defRPr>
            </a:pPr>
            <a:r>
              <a:t>2.3. HIỆN TRẠNG DỮ LIỆU THÔ BỊ LỖI &amp; THÁCH THỨC LÀM SẠCH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420624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timestamp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visitorid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event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itemid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transactionid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Lỗi dữ liệu thô phát hiện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1433221332117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257597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355908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D32F2F"/>
                          </a:solidFill>
                        </a:defRPr>
                      </a:pPr>
                      <a:r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D32F2F"/>
                          </a:solidFill>
                        </a:defRPr>
                      </a:pPr>
                      <a:r>
                        <a:t>Khuyết transactionid (99.19% dòng bị Null)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1433221332117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257597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355908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D32F2F"/>
                          </a:solidFill>
                        </a:defRPr>
                      </a:pPr>
                      <a:r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D32F2F"/>
                          </a:solidFill>
                        </a:defRPr>
                      </a:pPr>
                      <a:r>
                        <a:t>Trùng lặp bản ghi (Duplicate) do F5 / Double-click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1433224214164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D32F2F"/>
                          </a:solidFill>
                        </a:defRPr>
                      </a:pPr>
                      <a:r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addtocart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45112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D32F2F"/>
                          </a:solidFill>
                        </a:defRPr>
                      </a:pPr>
                      <a:r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D32F2F"/>
                          </a:solidFill>
                        </a:defRPr>
                      </a:pPr>
                      <a:r>
                        <a:t>Lỗi mất khóa visitorid (Không xác định User)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1433225891002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147545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'transaction'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187946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11245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D32F2F"/>
                          </a:solidFill>
                        </a:defRPr>
                      </a:pPr>
                      <a:r>
                        <a:t>Chuỗi Text ('view'/'transaction') ALS không đọc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3794760"/>
            <a:ext cx="356616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3794760"/>
            <a:ext cx="3566160" cy="64008"/>
          </a:xfrm>
          <a:prstGeom prst="rect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904488"/>
            <a:ext cx="3291840" cy="23957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D32F2F"/>
                </a:solidFill>
              </a:defRPr>
            </a:pPr>
            <a:r>
              <a:t>1. XỬ LÝ KHUYẾT THIẾU (NULL)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Loại bỏ transactionid vì 99.19% dòng không phải mua đều bị Null.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Dùng dropna(subset=['visitorid', 'itemid', 'event']) lọc sạch dòng gãy khóa.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3794760"/>
            <a:ext cx="356616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97680" y="3794760"/>
            <a:ext cx="3566160" cy="640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3904488"/>
            <a:ext cx="3291840" cy="23957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E65100"/>
                </a:solidFill>
              </a:defRPr>
            </a:pPr>
            <a:r>
              <a:t>2. KHỬ TRÙNG LẶP (DUPLICATES)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Dùng dropDuplicates() loại bỏ log spam/F5.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Đảm bảo chính xác khi cộng dồn điểm tương tác.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3794760"/>
            <a:ext cx="356616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3794760"/>
            <a:ext cx="3566160" cy="640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3904488"/>
            <a:ext cx="3291840" cy="23957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2E7D32"/>
                </a:solidFill>
              </a:defRPr>
            </a:pPr>
            <a:r>
              <a:t>3. CHUẨN HÓA SỐ HỌC CHO MLLIB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ALS chỉ nhận 3 cột số (Integer/Float).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Quy đổi hành vi chữ sang điểm số: view=1, cart=2, buy=3.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ustom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0" y="164592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PHẦN 3: KIẾN TRÚC HỆ THỐNG (2 - 3 PHÚT)  |  Slide 6/16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3B66"/>
                </a:solidFill>
              </a:defRPr>
            </a:pPr>
            <a:r>
              <a:t>3.1. THU THẬP &amp; TRUYỀN DỮ LIỆU STREAMING VỚI APACHE KAFKA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566160" cy="3291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66160" cy="6400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72768"/>
            <a:ext cx="3291840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D3B66"/>
                </a:solidFill>
              </a:defRPr>
            </a:pPr>
            <a:r>
              <a:t>1. KAFKA PRODUCER (CLICKSTREAM)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File: scripts/kafka_clickstream_producer.py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Giả lập luồng sự kiện clickstream theo thời gian thực từ events.csv.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Payload JSON chuẩn: {timestamp, visitorid, event, itemid, transactionid}.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Tốc độ phát linh hoạt: 50 - 100 events/giây qua cổng 9092.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Chế độ mô phỏng độc lập (Standalone simulation) khi không có cụm.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463040"/>
            <a:ext cx="3566160" cy="3291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66160" cy="640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572768"/>
            <a:ext cx="3291840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565C0"/>
                </a:solidFill>
              </a:defRPr>
            </a:pPr>
            <a:r>
              <a:t>2. KAFKA BROKER &amp; TOPIC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Topic đăng ký: 'ecommerce_clickstream' (Port 9092).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Đồng bộ metadata cụm phân tán qua Apache Zookeeper (Port 2181).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Bộ đệm Message Queue chịu tải cao, triệt tiêu nghẽn cổ chai I/O.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Hỗ trợ phân vùng Partition mở rộng ngang (Horizontal Scale) theo cụm.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Bảo đảm độ tin cậy truyền tin (At-least-once delivery, Zero Data Loss).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566160" cy="3291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66160" cy="640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1572768"/>
            <a:ext cx="3291840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E65100"/>
                </a:solidFill>
              </a:defRPr>
            </a:pPr>
            <a:r>
              <a:t>3. KAFKA CONSUMER &amp; HDFS SINK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File: scripts/kafka_hdfs_consumer.py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Lắng nghe liên tục luồng sự kiện từ topic ecommerce_clickstream.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Cơ chế Micro-Batching: Tự động gom 50 events/mẻ (hoặc timeout 5s).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Ghi trực tiếp tệp JSON mẻ xuống phân hệ phân tán Hadoop HDFS: /data/streaming/events_batch_&lt;timestamp&gt;.json.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Hình thành kho dữ liệu thô (Raw Data Lake) phục vụ Spark ETL xử lý.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892040"/>
            <a:ext cx="11064240" cy="15544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892040"/>
            <a:ext cx="11064240" cy="640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001768"/>
            <a:ext cx="10789919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2E7D32"/>
                </a:solidFill>
              </a:defRPr>
            </a:pPr>
            <a:r>
              <a:t>MINH CHỨNG THỰC NGHIỆM ĐÃ TRIỂN KHAI THÀNH CÔNG (LOGS/06_KAFKA_STREAMING.LOG)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Đã thực nghiệm phát sinh và thu nạp thành công 200 clickstream events vào topic 'ecommerce_clickstream'.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Consumer tiếp nhận và phân mẻ thành 4 micro-batches sink xuống HDFS an toàn (100% Success, 0% thất thoát dữ liệu).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Đáp ứng trọn vẹn yêu cầu Rubric: Có cấu hình topic, mã nguồn Producer/Consumer, luồng HDFS sink và file log đối chiếu đầy đủ.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ustom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0" y="164592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PHẦN 3: KIẾN TRÚC HỆ THỐNG (2 - 3 PHÚT)  |  Slide 7/16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3B66"/>
                </a:solidFill>
              </a:defRPr>
            </a:pPr>
            <a:r>
              <a:t>3.2. SƠ ĐỒ PIPELINE &amp; ĐIỀU PHỐI TỰ ĐỘNG BẰNG AIRFLOW DAG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2148840" cy="49377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2148840" cy="6400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72768"/>
            <a:ext cx="187452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D3B66"/>
                </a:solidFill>
              </a:defRPr>
            </a:pPr>
            <a:r>
              <a:t>BƯỚC 1: INGESTION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00_init_hdfs.sh &amp; Kafka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Đẩy 1.4 GB events.csv lên HDFS (/data/raw).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12 Blocks (128MB), Rep=2.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Kafka Consumer sink micro-batch.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24912" y="1463040"/>
            <a:ext cx="2148840" cy="49377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24912" y="1463040"/>
            <a:ext cx="2148840" cy="640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62072" y="1572768"/>
            <a:ext cx="187452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565C0"/>
                </a:solidFill>
              </a:defRPr>
            </a:pPr>
            <a:r>
              <a:t>BƯỚC 2: SPARK ETL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Script: 01_etl.py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Đọc CSV phân tán từ HDFS.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Làm sạch dropna, dropDuplicates.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Gán điểm View=1, Cart=2, Buy=3.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Lưu Parquet Snappy (72MB).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92624" y="1463040"/>
            <a:ext cx="2148840" cy="49377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92624" y="1463040"/>
            <a:ext cx="2148840" cy="640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9784" y="1572768"/>
            <a:ext cx="187452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E65100"/>
                </a:solidFill>
              </a:defRPr>
            </a:pPr>
            <a:r>
              <a:t>BƯỚC 3: SPARK SQL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Script: 01b_spark_sql.py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Tạo bảng tạm events_table.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Catalyst Optimizer tìm Top 10 SP tương tác cao nhất.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Giải quyết triệt để Cold-Start.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60336" y="1463040"/>
            <a:ext cx="2148840" cy="49377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260336" y="1463040"/>
            <a:ext cx="2148840" cy="640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97496" y="1572768"/>
            <a:ext cx="187452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2E7D32"/>
                </a:solidFill>
              </a:defRPr>
            </a:pPr>
            <a:r>
              <a:t>BƯỚC 4: SPARK MLLIB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Script: 02_train_als.py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Đọc Parquet nén Snappy.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Huấn luyện Implicit ALS 10 vòng.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Hội tụ RMSE ~ 0.02108, lưu model vào /spark/models.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28048" y="1463040"/>
            <a:ext cx="2148840" cy="49377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528048" y="1463040"/>
            <a:ext cx="2148840" cy="6400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65208" y="1572768"/>
            <a:ext cx="187452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D3B66"/>
                </a:solidFill>
              </a:defRPr>
            </a:pPr>
            <a:r>
              <a:t>BƯỚC 5: AIRFLOW &amp; UI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recommender_pipeline_dag.py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Airflow điều phối 5 tasks tự động.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03_benchmark.py (13.2x speedup).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Web Streamlit phục vụ thời gian thực (app.py).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ustom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0" y="164592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PHẦN 3: KIẾN TRÚC HỆ THỐNG (2 - 3 PHÚT)  |  Slide 8/16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3B66"/>
                </a:solidFill>
              </a:defRPr>
            </a:pPr>
            <a:r>
              <a:t>3.3. THỰC NGHIỆM CỤM DOCKER HADOOP HDFS &amp; SPARK CLUSTER</a:t>
            </a:r>
          </a:p>
        </p:txBody>
      </p:sp>
      <p:pic>
        <p:nvPicPr>
          <p:cNvPr id="5" name="Picture 4" descr="1_HDFS_Sto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5303520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526280"/>
            <a:ext cx="5303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>
                <a:solidFill>
                  <a:srgbClr val="6C757D"/>
                </a:solidFill>
              </a:defRPr>
            </a:pPr>
            <a:r>
              <a:t>HDFS Web UI (Port 9870): Datanode In service (223.63 GB, 201 Blocks)</a:t>
            </a:r>
          </a:p>
        </p:txBody>
      </p:sp>
      <p:pic>
        <p:nvPicPr>
          <p:cNvPr id="7" name="Picture 6" descr="2_Spark_Mas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463040"/>
            <a:ext cx="5394960" cy="301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17920" y="4526280"/>
            <a:ext cx="5394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>
                <a:solidFill>
                  <a:srgbClr val="6C757D"/>
                </a:solidFill>
              </a:defRPr>
            </a:pPr>
            <a:r>
              <a:t>Spark Master UI (Port 8080): Worker (10 Cores, 6.7 GiB RAM) &amp; Jobs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709160"/>
            <a:ext cx="5303520" cy="16459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4709160"/>
            <a:ext cx="5303520" cy="640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818888"/>
            <a:ext cx="5029200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565C0"/>
                </a:solidFill>
              </a:defRPr>
            </a:pPr>
            <a:r>
              <a:t>HADOOP HDFS CLUSTER (LƯU TRỮ PHÂN TÁN)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1 NameNode (Port 9870/9000): Quản lý Metadata, FsImage &amp; EditLog.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2 DataNodes (Hadoop 3.2.1): Lưu trữ Blocks vật lý, Replication = 2 chống mất dữ liệu.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709160"/>
            <a:ext cx="5394960" cy="16459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4709160"/>
            <a:ext cx="5394960" cy="640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4818888"/>
            <a:ext cx="5120640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2E7D32"/>
                </a:solidFill>
              </a:defRPr>
            </a:pPr>
            <a:r>
              <a:t>APACHE SPARK CLUSTER (TÍNH TOÁN IN-MEMORY)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1 Spark Master + 2 Spark Workers (Port 8081/8082).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Thực thi hoàn tất (FINISHED): RetailRocket_ETL (56s) &amp; TopProducts (32s).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ustom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0" y="164592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PHẦN 4: XỬ LÝ DỮ LIỆU - ETL (3 - 4 PHÚT)  |  Slide 9/16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3B66"/>
                </a:solidFill>
              </a:defRPr>
            </a:pPr>
            <a:r>
              <a:t>4.1. LOGIC LÀM SẠCH &amp; BIẾN ĐỔI PHÂN TÁN TRÊN SPARK (01_ETL.PY)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394960" cy="49377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394960" cy="640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72768"/>
            <a:ext cx="512064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565C0"/>
                </a:solidFill>
              </a:defRPr>
            </a:pPr>
            <a:r>
              <a:t>1. NARROW TRANSFORMATION (XỬ LÝ CỤC BỘ TRÊN RAM)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Các phép toán dropna() và withColumn() thực thi độc lập trên từng Partition của mỗi Worker.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Không phát sinh truyền tải dữ liệu qua mạng giữa các node.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Feature Engineering (Implicit Feedback Scoring): Quy đổi view = 1 điểm, addtocart = 2 điểm, transaction = 3 điểm.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394960" cy="49377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463040"/>
            <a:ext cx="5394960" cy="640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572768"/>
            <a:ext cx="512064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E65100"/>
                </a:solidFill>
              </a:defRPr>
            </a:pPr>
            <a:r>
              <a:t>2. WIDE TRANSFORMATION &amp; CƠ CHẾ SHUFFLE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Phép toán dropDuplicates() và groupBy('visitorid', 'itemid').agg(sum('score').alias('rating')).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Bắt buộc Spark thực hiện Shuffle: Gom các bản ghi cùng (visitorid, itemid) nằm rải rác ở các Workers về chung Partition.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Tạo ra Ma trận Tương tác 3 cột chuẩn: visitorid | itemid | rating.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Lazy Evaluation: Catalyst Optimizer tối ưu DAG trước khi ghi file Parquet nén Snappy xuống HDFS.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ustom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0" y="164592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PHẦN 4: XỬ LÝ DỮ LIỆU - ETL (3 - 4 PHÚT)  |  Slide 10/16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3B66"/>
                </a:solidFill>
              </a:defRPr>
            </a:pPr>
            <a:r>
              <a:t>4.2. THỰC NGHIỆM BENCHMARK: CSV THÔ VS. PARQUET TỐI ƯU</a:t>
            </a:r>
          </a:p>
        </p:txBody>
      </p:sp>
      <p:pic>
        <p:nvPicPr>
          <p:cNvPr id="5" name="Picture 4" descr="7_Benchmark_Storage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5303520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526280"/>
            <a:ext cx="5303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>
                <a:solidFill>
                  <a:srgbClr val="6C757D"/>
                </a:solidFill>
              </a:defRPr>
            </a:pPr>
            <a:r>
              <a:t>Thực nghiệm 1: Giảm 94.9% dung lượng (1,400 MB xuống 72 MB)</a:t>
            </a:r>
          </a:p>
        </p:txBody>
      </p:sp>
      <p:pic>
        <p:nvPicPr>
          <p:cNvPr id="7" name="Picture 6" descr="8_Benchmark_Read_Spe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463040"/>
            <a:ext cx="5394960" cy="301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17920" y="4526280"/>
            <a:ext cx="5394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>
                <a:solidFill>
                  <a:srgbClr val="6C757D"/>
                </a:solidFill>
              </a:defRPr>
            </a:pPr>
            <a:r>
              <a:t>Thực nghiệm 2: Tăng tốc đọc gấp ~13.2 lần (18.5s xuống 1.4s)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709160"/>
            <a:ext cx="11064240" cy="16916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4709160"/>
            <a:ext cx="11064240" cy="640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818888"/>
            <a:ext cx="10789919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2E7D32"/>
                </a:solidFill>
              </a:defRPr>
            </a:pPr>
            <a:r>
              <a:t>KẾT LUẬN TỪ KỊCH BẢN ĐO KIỂM (03_BENCHMARK.PY)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Tiết kiệm băng thông &amp; đĩa HDFS: File Parquet nén Snappy chỉ chiếm 72 MB so với 1,400 MB của CSV thô (giảm 94.9%).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Tăng tốc In-Memory: Nhờ tích hợp sẵn Metadata Schema và cơ chế Column Pruning, thời gian nạp vào Spark giảm từ 18.5s xuống 1.4s.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ustom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0" y="164592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PHẦN 4: XỬ LÝ DỮ LIỆU - ETL &amp; MLLIB (3 - 4 PHÚT)  |  Slide 11/16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3B66"/>
                </a:solidFill>
              </a:defRPr>
            </a:pPr>
            <a:r>
              <a:t>4.3. HUẤN LUYỆN MÔ HÌNH HỌC MÁY PHÂN TÁN SPARK MLLIB (ALS)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1064240" cy="1371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11064240" cy="6400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72768"/>
            <a:ext cx="10789919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D3B66"/>
                </a:solidFill>
              </a:defRPr>
            </a:pPr>
            <a:r>
              <a:t>CƠ CHẾ PHÂN RÃ MA TRẬN (MATRIX FACTORIZATION) &amp; IMPLICIT ALS (02_TRAIN_ALS.PY)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Xấp xỉ ma trận thưa R ≈ U x V^T (k = 10 chiều ẩn); c_ui = 1 + α * r_ui; maxIter = 10, regParam = 0.01, 80% Train / 20% Test.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Cơ chế luân phiên (Alternating): Cố định V tìm U song song trên Spark Workers, sau đó cố định U tìm V.</a:t>
            </a:r>
          </a:p>
        </p:txBody>
      </p:sp>
      <p:pic>
        <p:nvPicPr>
          <p:cNvPr id="8" name="Picture 7" descr="5_Model_Converg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971800"/>
            <a:ext cx="5303520" cy="33832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400800"/>
            <a:ext cx="5303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>
                <a:solidFill>
                  <a:srgbClr val="6C757D"/>
                </a:solidFill>
              </a:defRPr>
            </a:pPr>
            <a:r>
              <a:t>Đường cong hội tụ RMSE qua 10 vòng lặp (Final RMSE ~ 0.021)</a:t>
            </a:r>
          </a:p>
        </p:txBody>
      </p:sp>
      <p:pic>
        <p:nvPicPr>
          <p:cNvPr id="10" name="Picture 9" descr="6_Model_Compari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2971800"/>
            <a:ext cx="5394960" cy="3383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17920" y="6400800"/>
            <a:ext cx="5394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>
                <a:solidFill>
                  <a:srgbClr val="6C757D"/>
                </a:solidFill>
              </a:defRPr>
            </a:pPr>
            <a:r>
              <a:t>So sánh: Spark ALS (0.021) cải thiện độ chính xác +75.3% so với Baseline (0.085)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ustom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0" y="164592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PHẦN 4: XỬ LÝ DỮ LIỆU - ETL (3 - 4 PHÚT)  |  Slide 12/16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3B66"/>
                </a:solidFill>
              </a:defRPr>
            </a:pPr>
            <a:r>
              <a:t>4.4. ĐIỂM NHẤN KỸ THUẬT: KHÓ KHĂN TRÀN RAM &amp; GIẢI PHÁP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394960" cy="23774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394960" cy="64008"/>
          </a:xfrm>
          <a:prstGeom prst="rect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72768"/>
            <a:ext cx="5120640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D32F2F"/>
                </a:solidFill>
              </a:defRPr>
            </a:pPr>
            <a:r>
              <a:t>1. TRÀN RAM KHI SHUFFLE / TRAIN ALS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Khó khăn: Gom nhóm 2.75M dòng và giải ALS gây áp lực JVM.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Giải pháp: Cấp --driver-memory 4g; đọc Parquet (72MB) thay vì CSV.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394960" cy="23774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463040"/>
            <a:ext cx="5394960" cy="640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572768"/>
            <a:ext cx="5120640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565C0"/>
                </a:solidFill>
              </a:defRPr>
            </a:pPr>
            <a:r>
              <a:t>2. TẠI SAO CHỌN ALS THAY VÌ SGD?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Khó khăn: SGD đồng bộ trọng số qua mạng gây nghẽn cổ chai.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Giải pháp: ALS cố định V giúp giải vector U độc lập, song song 100%.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023360"/>
            <a:ext cx="5394960" cy="23774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4023360"/>
            <a:ext cx="5394960" cy="640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133088"/>
            <a:ext cx="5120640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E65100"/>
                </a:solidFill>
              </a:defRPr>
            </a:pPr>
            <a:r>
              <a:t>3. LỖI THIẾU THƯ VIỆN TOÁN DOCKER ALPINE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Khó khăn: Image bde2020 thiếu thư viện C/Fortran cho MLlib ALS.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Giải pháp: Cài đặt bổ sung py3-numpy trên Master và Workers.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023360"/>
            <a:ext cx="5394960" cy="23774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4023360"/>
            <a:ext cx="5394960" cy="640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4133088"/>
            <a:ext cx="5120640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2E7D32"/>
                </a:solidFill>
              </a:defRPr>
            </a:pPr>
            <a:r>
              <a:t>4. LỖI MACOS TỰ XÓA THƯ MỤC /TMP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Khó khăn: Streamlit cache Spark bị macOS xóa /tmp gây lỗi.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Giải pháp: Cấu hình biến TMPDIR và spark.local.dir về ./.spark_temp.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ustom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0" y="164592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PHẦN 5: DEMO &amp; DASHBOARD (3 - 4 PHÚT)  |  Slide 13/16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3B66"/>
                </a:solidFill>
              </a:defRPr>
            </a:pPr>
            <a:r>
              <a:t>5.1. GIẢI QUYẾT BÀI TOÁN COLD-START &amp; INSIGHT KINH DOANH</a:t>
            </a:r>
          </a:p>
        </p:txBody>
      </p:sp>
      <p:pic>
        <p:nvPicPr>
          <p:cNvPr id="5" name="Picture 4" descr="9_Top10_ColdStart_Produc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566928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263640"/>
            <a:ext cx="5669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>
                <a:solidFill>
                  <a:srgbClr val="6C757D"/>
                </a:solidFill>
              </a:defRPr>
            </a:pPr>
            <a:r>
              <a:t>Top 10 sản phẩm thịnh hành trích xuất bằng Spark SQL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63040"/>
            <a:ext cx="5212080" cy="23774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1463040"/>
            <a:ext cx="5212080" cy="640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572768"/>
            <a:ext cx="4937760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565C0"/>
                </a:solidFill>
              </a:defRPr>
            </a:pPr>
            <a:r>
              <a:t>CHIẾN LƯỢC HYBRID FALLBACK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Vấn đề Cold-Start: Khách mới chưa có lịch sử tương tác trong ALS.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Giải pháp: Dùng Spark SQL truy vấn bảng events_table tìm Top 10 sản phẩm tương tác cao nhất làm gợi ý mặc định.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4023360"/>
            <a:ext cx="5212080" cy="23774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4023360"/>
            <a:ext cx="5212080" cy="640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4133088"/>
            <a:ext cx="4937760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2E7D32"/>
                </a:solidFill>
              </a:defRPr>
            </a:pPr>
            <a:r>
              <a:t>INSIGHT KINH DOANH TỪ DỮ LIỆU LỚN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Sản phẩm dẫn đầu: Item #187946 (3,412 lượt), Item #461686 (2,978 lượt).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Tối ưu UX: Tỷ lệ Xem (96.67%) sang Mua (0.81%) thấp -&gt; Đặt khung gợi ý AI ngay dưới nút 'Thêm vào giỏ' để kích cầu mua chéo.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ustom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0" y="164592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PHẦN 5: DEMO &amp; DASHBOARD (3 - 4 PHÚT)  |  Slide 14/16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3B66"/>
                </a:solidFill>
              </a:defRPr>
            </a:pPr>
            <a:r>
              <a:t>5.2. DEMO HỆ THỐNG WEB APP SERVING TRÊN STREAMLIT</a:t>
            </a:r>
          </a:p>
        </p:txBody>
      </p:sp>
      <p:pic>
        <p:nvPicPr>
          <p:cNvPr id="5" name="Picture 4" descr="3_Streamlit_A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566928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263640"/>
            <a:ext cx="5669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>
                <a:solidFill>
                  <a:srgbClr val="6C757D"/>
                </a:solidFill>
              </a:defRPr>
            </a:pPr>
            <a:r>
              <a:t>Giao diện Web App Streamlit (Port 8501)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63040"/>
            <a:ext cx="5212080" cy="23774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1463040"/>
            <a:ext cx="5212080" cy="6400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572768"/>
            <a:ext cx="4937760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D3B66"/>
                </a:solidFill>
              </a:defRPr>
            </a:pPr>
            <a:r>
              <a:t>KIẾN TRÚC ONLINE SERVING ĐỘ TRỄ THẤP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Tách biệt Offline Training (trên HDFS/Spark) và Online Serving.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Web App nạp trực tiếp model (/spark/models/als_model_final) lên RAM để tính tích vô hướng tức thì trong vài mili-giây.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4023360"/>
            <a:ext cx="5212080" cy="23774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4023360"/>
            <a:ext cx="5212080" cy="640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4133088"/>
            <a:ext cx="4937760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E65100"/>
                </a:solidFill>
              </a:defRPr>
            </a:pPr>
            <a:r>
              <a:t>KỊCH BẢN DEMO TRỰC TIẾP TRƯỚC HỘI ĐỒNG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Trường hợp 1 (Khách cũ - VD: ID 147545): Gọi recommendForUserSubset() hiển thị Top SP cá nhân hóa kèm Latent Score.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Trường hợp 2 (Khách mới - Cold-Start): Tự động kích hoạt Fallback hiển thị Top sản phẩm Trending từ Spark SQL.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ustom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0" y="164592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PHẦN 6: KẾT LUẬN &amp; Q&amp;A (1 - 2 PHÚT)  |  Slide 15/16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3B66"/>
                </a:solidFill>
              </a:defRPr>
            </a:pPr>
            <a:r>
              <a:t>6.1. ĐÁNH GIÁ KẾT QUẢ, GIỚI HẠN &amp; HƯỚNG MỞ RỘNG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566160" cy="49377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66160" cy="640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72768"/>
            <a:ext cx="329184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2E7D32"/>
                </a:solidFill>
              </a:defRPr>
            </a:pPr>
            <a:r>
              <a:t>NHỮNG GÌ ĐÃ LÀM ĐƯỢC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Hoàn chỉnh cụm Docker Hadoop HDFS (2 DataNodes) &amp; Spark (2 Workers).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Xử lý 2.75M dòng log; Parquet giảm 94.9% dung lượng, tăng tốc đọc 13.2 lần.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Mô hình ALS đạt RMSE ~ 0.021 (+75.2% vs Baseline), khắc phục Cold-Start.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Tự động hóa bằng Airflow DAG (5/5 tasks SUCCESS), truyền nhận streaming với Kafka.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463040"/>
            <a:ext cx="3566160" cy="49377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66160" cy="640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572768"/>
            <a:ext cx="329184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E65100"/>
                </a:solidFill>
              </a:defRPr>
            </a:pPr>
            <a:r>
              <a:t>GIỚI HẠN PHẦN CỨNG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Containers chạy ảo hóa trên 1 máy cá nhân duy nhất (chia sẻ CPU và RAM).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Dung lượng RAM cấp phát cho Spark Worker (6.7 GiB) giới hạn khi mở rộng dữ liệu lớn hơn.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Mô hình học máy ALS tính toán theo Batch định kỳ, chưa cập nhật ma trận theo micro-giây.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566160" cy="49377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66160" cy="640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1572768"/>
            <a:ext cx="329184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565C0"/>
                </a:solidFill>
              </a:defRPr>
            </a:pPr>
            <a:r>
              <a:t>HƯỚNG MỞ RỘNG (SCALE-OUT)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Mở rộng ngang: Triển khai trên nhiều máy chủ vật lý hoặc Cloud (AWS EMR / Dataproc).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Xử lý thời gian thực: Tích hợp Apache Kafka và Spark Structured Streaming cập nhật gợi ý tức thời.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Tích hợp Deep Learning: Neural Collaborative Filtering (NCF) tăng cường độ chính xác.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ustom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0" y="164592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PHẦN 6: KẾT LUẬN &amp; Q&amp;A (1 - 2 PHÚT)  |  Slide 16/16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280160"/>
            <a:ext cx="9994392" cy="2011680"/>
          </a:xfrm>
          <a:prstGeom prst="round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2600" b="1">
                <a:solidFill>
                  <a:srgbClr val="FFFFFF"/>
                </a:solidFill>
              </a:defRPr>
            </a:pPr>
            <a:r>
              <a:t>CẢM ƠN GIẢNG VIÊN VÀ HỘI ĐỒNG ĐÃ LẮNG NGHE!</a:t>
            </a:r>
          </a:p>
          <a:p>
            <a:pPr algn="ctr">
              <a:defRPr sz="1500">
                <a:solidFill>
                  <a:srgbClr val="BBDEFB"/>
                </a:solidFill>
              </a:defRPr>
            </a:pPr>
            <a:r>
              <a:t>Nhóm rất mong nhận được các câu hỏi phản biện và góp ý từ Thầy/Cô.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3474720"/>
            <a:ext cx="9994392" cy="29260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3474720"/>
            <a:ext cx="9994392" cy="640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39" y="3584448"/>
            <a:ext cx="9720072" cy="2761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565C0"/>
                </a:solidFill>
              </a:defRPr>
            </a:pPr>
            <a:r>
              <a:t>CÁC CỔNG HỆ THỐNG ĐANG BẬT SẴN ĐỂ CHỨNG MINH TRỰC TIẾP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Hadoop HDFS NameNode UI: http://localhost:9870  (Kiểm tra Datanodes &amp; Blocks 128MB)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Apache Spark Master Web UI: http://localhost:8080  (Kiểm tra Workers, Jobs &amp; đồ thị DAG)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Apache Airflow Orchestration UI: http://localhost:8089  (Kiểm tra đồ thị DAG 5 tasks)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Streamlit Recommender Web App: http://localhost:8501  (Trải nghiệm gợi ý ALS &amp; Cold-Start)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Kafka Streaming Topic: 'ecommerce_clickstream'  (Kiểm thử Producer &amp; Consumer)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